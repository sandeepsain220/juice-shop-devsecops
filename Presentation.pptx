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17476"/>
            <a:ext cx="2839938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549973"/>
            <a:ext cx="11029950" cy="59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174676"/>
            <a:ext cx="11581447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0" sz="4350" i="0" u="none">
                <a:solidFill>
                  <a:srgbClr val="F8FAFC"/>
                </a:solidFill>
                <a:latin typeface="Plus Jakarta Sans ExtraBold"/>
              </a:rPr>
              <a:t>DevSecOps Pipeline &amp;</a:t>
            </a:r>
            <a:r>
              <a:t>
</a:t>
            </a:r>
            <a:r>
              <a:rPr b="0" sz="4350" i="0" u="none">
                <a:solidFill>
                  <a:srgbClr val="38BDF8"/>
                </a:solidFill>
                <a:latin typeface="Plus Jakarta Sans ExtraBold"/>
              </a:rPr>
              <a:t>Rollout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35573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Automated Security Controls, Pipeline Gates &amp; Enterprise Adoption Plan for OWASP Juice 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749998"/>
            <a:ext cx="100012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Presenter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Sandeep 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4749998"/>
            <a:ext cx="21621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Role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Application Security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4825" y="4749998"/>
            <a:ext cx="8667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Date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31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9862"/>
            <a:ext cx="3549699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709862"/>
            <a:ext cx="3549699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709862"/>
            <a:ext cx="3549699" cy="2085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4798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57587"/>
            <a:ext cx="162020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1.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Top 5 baseline security risks, attack scenarios, and business impact for executive management.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2947987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9349" y="3557587"/>
            <a:ext cx="208026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2. Pipeline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Automated security controls: SAST, Secret Scanning, SCA, SBOM &amp; Container Hardening.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9549" y="2947987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9549" y="3557587"/>
            <a:ext cx="213026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3. Rollout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549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3-phase adoption framework across 40 microservices, exception SLAs, and success KPIs.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3062287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362" y="3062287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3849" y="3062287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Executive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44365"/>
            <a:ext cx="5372100" cy="24168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44365"/>
            <a:ext cx="5372100" cy="2416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820590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92065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Step in as a Security Consultant for Acme Financial Services to build end-to-end automated security controls around OWASP Juice Shop without modifying application source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820590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Key Implemented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192065"/>
            <a:ext cx="4819650" cy="1492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✅ 1-Page Risk Brief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Semgrep SAST with 2 Custom Rules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Gitleaks Secret Scanning Gate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Trivy SCA &amp; CycloneDX SBOM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Hardened Non-Root Dockerfile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Trivy Container Image Scan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✅ GitHub Actions CI/CD &amp; Security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Project Overview &amp;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845843"/>
            <a:ext cx="11029950" cy="6953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964531"/>
          <a:ext cx="11010899" cy="2690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52563"/>
                <a:gridCol w="1413867"/>
                <a:gridCol w="6944469"/>
              </a:tblGrid>
              <a:tr h="44846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Risk 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Severity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Justification &amp;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484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Hardcoded Secrets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API keyscommitted in Git allow direct database and cloud access.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84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Vulnerable Dependencies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Known open-source CVEs can be exploited without writing new attack code.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84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Unsafe Code Patterns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Unsanitized 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eval()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and SQL string concatenation lead to injection attacks.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84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Unhardened Containers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Running containers as root enables host-level breakout and privilege escalation.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847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Missing Pipeline Gates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Builds do not block critical findings, allowing vulnerabilities to reach production.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575" y="4979193"/>
            <a:ext cx="10648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Remediation Priority: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Immediately enforce pre-merge secret scanning and branch protection rules to block 80% of accidental breaches without impacting developer speed.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550" y="2455068"/>
            <a:ext cx="26525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3113" y="2455068"/>
            <a:ext cx="14138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56980" y="2455068"/>
            <a:ext cx="69444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2893218"/>
            <a:ext cx="26525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3113" y="2893218"/>
            <a:ext cx="14138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6980" y="2893218"/>
            <a:ext cx="69444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3331368"/>
            <a:ext cx="26525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3113" y="3331368"/>
            <a:ext cx="14138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56980" y="3331368"/>
            <a:ext cx="69444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3769518"/>
            <a:ext cx="26525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3113" y="3769518"/>
            <a:ext cx="14138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56980" y="3769518"/>
            <a:ext cx="69444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0550" y="4207668"/>
            <a:ext cx="26525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3113" y="4207668"/>
            <a:ext cx="141386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6980" y="4207668"/>
            <a:ext cx="69444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563" y="2578893"/>
            <a:ext cx="73342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563" y="3017043"/>
            <a:ext cx="733425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563" y="3455193"/>
            <a:ext cx="50482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1380" y="3455193"/>
            <a:ext cx="5715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563" y="3893343"/>
            <a:ext cx="504825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4563" y="4331493"/>
            <a:ext cx="685800" cy="2190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Top Security Risks &amp; Priorities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74331"/>
            <a:ext cx="11029950" cy="481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50356"/>
            <a:ext cx="1544687" cy="1085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137" y="2921793"/>
            <a:ext cx="1544687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249" y="2921793"/>
            <a:ext cx="1544687" cy="942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361" y="2850356"/>
            <a:ext cx="1544687" cy="1085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9473" y="2850356"/>
            <a:ext cx="1544687" cy="1085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6585" y="2921793"/>
            <a:ext cx="1544687" cy="942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4307681"/>
            <a:ext cx="10648950" cy="214312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Plus Jakarta Sans"/>
              </a:rPr>
              <a:t>Every push automatically triggers these jobs in parallel on GitHub Actions, providing feedback within 60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7081" y="3031331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ExtraBold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369" y="3231356"/>
            <a:ext cx="108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Code Push /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469481"/>
            <a:ext cx="12589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Developer submits Pull Request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012" y="3312318"/>
            <a:ext cx="1238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64668" y="3102768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ExtraBold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9893" y="3302793"/>
            <a:ext cx="581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Gitleaks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2731" y="3540918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Secret Scanning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124" y="3312318"/>
            <a:ext cx="1238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61780" y="3102768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ExtraBold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668" y="3302793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Semgrep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6493" y="3540918"/>
            <a:ext cx="1162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SAST &amp; Custom Rules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4236" y="3312318"/>
            <a:ext cx="1238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4130" y="3031331"/>
            <a:ext cx="381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ExtraBold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255" y="3231356"/>
            <a:ext cx="666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Trivy SCA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236" y="3469481"/>
            <a:ext cx="12589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SCA &amp; CycloneDX SBOM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1348" y="3312318"/>
            <a:ext cx="12382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56005" y="3031331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ExtraBold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067" y="3231356"/>
            <a:ext cx="895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Docker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2348" y="3469481"/>
            <a:ext cx="12589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Hardened Image Check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8460" y="3312318"/>
            <a:ext cx="1238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476904" y="3102768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4D399"/>
                </a:solidFill>
                <a:latin typeface="Plus Jakarta Sans ExtraBold"/>
              </a:rPr>
              <a:t>GATE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1667" y="3302793"/>
            <a:ext cx="714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Pass / 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6879" y="3540918"/>
            <a:ext cx="1123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Enforce Deployment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4345781"/>
            <a:ext cx="14287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DevSecOps Pipeline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48062"/>
            <a:ext cx="5372100" cy="97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100512"/>
            <a:ext cx="5372100" cy="62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776537"/>
            <a:ext cx="564070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8FAFC"/>
                </a:solidFill>
                <a:latin typeface="Plus Jakarta Sans"/>
              </a:rPr>
              <a:t>Semgrep Engine &amp; Custom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995612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Integrated Semgrep SAST to scan JavaScript/TypeScript code for OWASP Top 10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2776537"/>
            <a:ext cx="564070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8FAFC"/>
                </a:solidFill>
                <a:latin typeface="Plus Jakarta Sans"/>
              </a:rPr>
              <a:t>Results &amp; Suppressions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2995612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Scanner Results: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309 rules executed, successfully flagging unsafe and unparameterized SQL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3548062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False Positive Handling: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Developers can suppress verified false positives inline with auditable comments: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243262"/>
            <a:ext cx="5715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Static Application Security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5372100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28887"/>
            <a:ext cx="5372100" cy="24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80511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Gitleaks Pipeline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7658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Configured Gitleaks to scan full commit histories and pull requests for leaked credentials, API tokens, AWS keys, and JWT private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4808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Prevents credentials from ever reaching the remote repository or production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80511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Gate Validation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17658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1. Test Branch: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Created a temporary branch and committed a dummy credential pattern 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70998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2. Gate Failure: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Pipeline immediately failed and blocked PR merge.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24338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3. Remediation: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Removed secret; pipeline returned to green status.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75" y="3424237"/>
            <a:ext cx="15049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Secrets Detection &amp;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76537"/>
            <a:ext cx="5372100" cy="1952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76537"/>
            <a:ext cx="5372100" cy="1952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305276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Trivy SCA Vulnerability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42423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Parses application package manifests () to identify known open-source CVEs.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9573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Configured pipeline threshold to automatically fail builds on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Critical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or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High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severity vulnerabilities.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05276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CycloneDX SBOM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42423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Automated generation of Software Bill of Materials (SBOM) in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CycloneDX JSON format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on every release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995737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Uploaded as a build artifact to satisfy supply chain security compliance and audit requirements.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175" y="3443287"/>
            <a:ext cx="13049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Software Composition Analysis &amp; SBOM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784098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Container Security &amp; Hardening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8350"/>
            <a:ext cx="31127700" cy="1535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133475"/>
            <a:ext cx="784098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8FAFC"/>
                </a:solidFill>
                <a:latin typeface="Plus Jakarta Sans"/>
              </a:rPr>
              <a:t>Dockerfile.hardened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352550"/>
            <a:ext cx="7467600" cy="2286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Minimal Base: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Switched from heavy Debian image to (90% attack surface reduction).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581150"/>
            <a:ext cx="7467600" cy="2286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Non-Root User: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Enforced execution to prevent host privilege escalation.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809750"/>
            <a:ext cx="7467600" cy="2286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Multi-Stage Build: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Dropped build compilers and package manager caches in production runtime.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3906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1371600"/>
            <a:ext cx="11049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6192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5575" y="1600200"/>
            <a:ext cx="7715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84785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9862"/>
            <a:ext cx="3549699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709862"/>
            <a:ext cx="3549699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709862"/>
            <a:ext cx="3549699" cy="2085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4798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57587"/>
            <a:ext cx="1600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Branch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Enforce minimum 1 peer review and passing status checks before code can be merged into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2947987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9349" y="3557587"/>
            <a:ext cx="1550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Automated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Pipeline blocks automatically if secrets, Critical SAST bugs, or High container CVEs are detected.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9549" y="2947987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9549" y="3557587"/>
            <a:ext cx="141017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GitHub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549" y="3871912"/>
            <a:ext cx="30734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Scans upload SARIF files to GitHub Code Scanning tab for central visibility and developer tracking.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" y="3062287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3075" y="4348162"/>
            <a:ext cx="4381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9362" y="3062287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3849" y="306228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Pipeline Security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82905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025" y="3043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1025" y="3462337"/>
            <a:ext cx="366045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Phase 1: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738562"/>
            <a:ext cx="3486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Weeks 1–2 (Tier-1 Services)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967162"/>
            <a:ext cx="3486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Deploy SAST &amp; Secrets scanning in </a:t>
            </a:r>
            <a:r>
              <a:rPr b="0" sz="1200" i="1" u="none">
                <a:solidFill>
                  <a:srgbClr val="94A3B8"/>
                </a:solidFill>
                <a:latin typeface="Plus Jakarta Sans"/>
              </a:rPr>
              <a:t>Warn-Only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mode on Payment &amp; Auth services. Establish vulnerability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7675" y="3043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7675" y="3462337"/>
            <a:ext cx="366045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Phase 2: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7675" y="3738562"/>
            <a:ext cx="3486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Weeks 3–5 (15–20 Services)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675" y="3967162"/>
            <a:ext cx="3486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Enable mandatory blocking for Critical secrets &amp; High CVEs on Order &amp; Catalog services. Conduct office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4325" y="3043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4325" y="3462337"/>
            <a:ext cx="366045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Phase 3: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4325" y="3738562"/>
            <a:ext cx="3486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Weeks 6–8 (All 40 Services)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325" y="3967162"/>
            <a:ext cx="3486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Full CI/CD gating across all repositories. Automated SBOM creation, central exception SLA tracking, and KPI reviews.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3-Phase 40-Microservice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19387"/>
            <a:ext cx="5372100" cy="2066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19387"/>
            <a:ext cx="5372100" cy="2066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99561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367087"/>
            <a:ext cx="4819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• Security automation must run early in PRs, not post-deployment.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• Warn-only mode builds developer trust before activating blocking gates.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• Custom SAST rules significantly reduce noise compared to generic rule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995612"/>
            <a:ext cx="50606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367087"/>
            <a:ext cx="48196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DAST Integration: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OWASP ZAP dynamic scanning in staging.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IaC Security: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Checkov/Trivy for Terraform configurations.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94A3B8"/>
                </a:solidFill>
                <a:latin typeface="Plus Jakarta Sans"/>
              </a:rPr>
              <a:t>Kubernetes Security: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OPA/Kyverno policy enforcement at runtime.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Lessons &amp; Future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0546" y="2547937"/>
            <a:ext cx="725090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8FAFC"/>
                </a:solidFill>
                <a:latin typeface="Plus Jakarta Sans ExtraBold"/>
              </a:rPr>
              <a:t>Questions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3187" y="3462337"/>
            <a:ext cx="69056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8BDF8"/>
                </a:solidFill>
                <a:latin typeface="Plus Jakarta Sans"/>
              </a:rPr>
              <a:t>Thank you! Let's walk through the working GitHub Actions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3187" y="4110037"/>
            <a:ext cx="690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Sandeep Sain | Application Security Engineer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62" y="3467100"/>
            <a:ext cx="9525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7662" y="3567112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Plus Jakarta Sans"/>
              </a:rPr>
              <a:t>DevSecOps container security and cloud infrastructure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7662" y="376713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38BDF8"/>
                </a:solidFill>
                <a:latin typeface="Plus Jakarta Sans"/>
              </a:rPr>
              <a:t>http://googleusercontent.com/image_collection/image_retrieval/3501788798942617211_0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Image 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35147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5262" y="3521868"/>
            <a:ext cx="52768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https://www.ox.security/wp-content/uploads/2023/10/ox-dashboard-screen-shot.png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262" y="3755231"/>
            <a:ext cx="5276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www.ox.security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lus Jakarta Sans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